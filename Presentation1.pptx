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EFF2-98E9-5790-E614-2F59A99C1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D5389-3574-106D-EE89-99881A54D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2FBF8-0FA2-BA6F-0F1B-61C01F6C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CC03B-66DE-98F4-4169-913720D32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383D2-BCAA-187C-0D8D-8F1119BB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83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FC93-C596-F2B6-4510-009BA708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EAFEC-7441-9F6F-6B32-D6A601040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50F54-2EC1-FBF5-E06F-760705E1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FB018-AE70-F646-303A-04013E4F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AC8A2-1C26-7F15-F9F2-1F93D3D3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2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5E14-50AD-4B03-5537-F9B6299AE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B796F-3DDD-7DCE-5783-4397B8216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06454-0E41-D51B-6DB0-9F95F057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17125-9D1C-DB22-8B8A-763996B1A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25DC5-4AF7-E642-006F-2EFB3A97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980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FFEB-866D-FF47-4B1B-0FBD1A58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6998E-9E62-F43E-E274-C89DD388A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8C517-AECE-0412-3907-C32A5F5C4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0D190-2CE5-9C02-1A57-14EC70B8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79AE0-92D5-1823-76FE-81D7E508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44BF4-3C6C-15B2-B6FF-8D68392E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58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BBC6-C1F8-F1CA-FCF2-89FF67225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3871-8243-CB33-712C-70EDFF8CF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03DFC-027D-BCD6-8CB2-C0DDA3702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1CC83-D243-ECA4-6492-3375038C5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962A39-7F32-0085-020E-99A9E7FE1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FE77B8-3E13-243A-FCB9-57404B9D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A8CF2E-21B9-770E-91BB-58322D9E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78099C-4AD3-5244-816E-BB6AC9F5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838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B406-D1EF-A630-F1F7-8CC3FB3F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33BC9-39DA-195F-3020-CA46523A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1A115-911D-EA21-4612-92AD14C11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D1497-48DD-76B7-6041-A435DF11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044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F9DFAA-E65E-5B9F-C0A6-CCBED7501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6B88E-4036-D056-73EA-6116A511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39DC4-9C93-DC7D-61A0-C21BC652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39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D9A77-DC72-AC13-88F2-7A4C69434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3756D-2DA1-BBA0-E0D9-588EB2FF3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D2D83-F72F-F433-5486-328959A26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D57FF-9EB9-74CD-88A3-3E05ED60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8BEF9-3C8D-871F-A718-6904DBC1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4657F-4E8E-8176-4E76-E7E46325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217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3D9FC-9CAA-1B61-E727-4E89A57C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4819C4-C875-9038-D97C-59D860D0F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60ED1-3BB8-624D-7400-5E8F47495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838A5-759E-6B80-D25C-2A17A9B4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AF65A-D7AA-01E0-83D3-0AB6CB50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DBB06-C88E-D828-C1E3-A86F0BD8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74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C1C5-51D3-ED7F-80C8-01ACB9A9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60873-6CAF-57C6-9083-0E97E6A56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B7B35-FCEE-94E6-74E1-1274ED1D1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A4B1C-8E2A-5FA6-F2AE-89EA85C7E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85818-D4C3-5CF4-EEA9-8BE81BC29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01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741AD-ED21-21A9-1751-AEB82816B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6714C-0FE0-BECB-FEBA-BED5A26E6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3811E-BB45-FF2E-8A49-7011DC5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F85AB-8F79-7758-D852-B0229CCCA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F0385-1E29-BCB8-73FA-AB0692BB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159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FF8B0A-DE62-B73F-D027-E4A87868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98782-C71D-2916-8810-CBA861D26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C56FE-D31C-7038-0619-1E727D75F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4C3F8-066B-4DAB-AB3B-C7B1A58919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A00CA-3BE0-E3C4-833F-C8100AE767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3BB08-FE4E-6536-A463-1A8C2BAF4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7FFE3-FF68-4636-8AAA-1A28E239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74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2AD8C74-3C55-4E24-C7C9-ED33EC07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796" y="1119835"/>
            <a:ext cx="41713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Create the database and use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5ADEE-C979-F7FE-B6D9-627AE4FD6F4B}"/>
              </a:ext>
            </a:extLst>
          </p:cNvPr>
          <p:cNvSpPr txBox="1"/>
          <p:nvPr/>
        </p:nvSpPr>
        <p:spPr>
          <a:xfrm>
            <a:off x="1771046" y="1535253"/>
            <a:ext cx="3790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CREATE DATABASE </a:t>
            </a:r>
            <a:r>
              <a:rPr lang="en-IN" dirty="0" err="1"/>
              <a:t>banking_system</a:t>
            </a:r>
            <a:r>
              <a:rPr lang="en-IN" dirty="0"/>
              <a:t>;</a:t>
            </a:r>
          </a:p>
          <a:p>
            <a:r>
              <a:rPr lang="en-IN" dirty="0"/>
              <a:t>USE </a:t>
            </a:r>
            <a:r>
              <a:rPr lang="en-IN" dirty="0" err="1"/>
              <a:t>banking_system</a:t>
            </a:r>
            <a:r>
              <a:rPr lang="en-IN" dirty="0"/>
              <a:t>;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C16E2-DD95-41FC-93A0-23B6142939D9}"/>
              </a:ext>
            </a:extLst>
          </p:cNvPr>
          <p:cNvSpPr txBox="1"/>
          <p:nvPr/>
        </p:nvSpPr>
        <p:spPr>
          <a:xfrm>
            <a:off x="1787980" y="2489199"/>
            <a:ext cx="3518014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CREATE TABLE Customer (</a:t>
            </a:r>
          </a:p>
          <a:p>
            <a:r>
              <a:rPr lang="en-IN" dirty="0"/>
              <a:t>    </a:t>
            </a:r>
            <a:r>
              <a:rPr lang="en-IN" dirty="0" err="1"/>
              <a:t>customer_id</a:t>
            </a:r>
            <a:r>
              <a:rPr lang="en-IN" dirty="0"/>
              <a:t>   INT PRIMARY KEY,</a:t>
            </a:r>
          </a:p>
          <a:p>
            <a:r>
              <a:rPr lang="en-IN" dirty="0"/>
              <a:t>    name          VARCHAR(100),</a:t>
            </a:r>
          </a:p>
          <a:p>
            <a:r>
              <a:rPr lang="en-IN" dirty="0"/>
              <a:t>    phone         VARCHAR(15),</a:t>
            </a:r>
          </a:p>
          <a:p>
            <a:r>
              <a:rPr lang="en-IN" dirty="0"/>
              <a:t>    address       VARCHAR(200)</a:t>
            </a:r>
          </a:p>
          <a:p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CREATE TABLE Branch (</a:t>
            </a:r>
          </a:p>
          <a:p>
            <a:r>
              <a:rPr lang="en-IN" dirty="0"/>
              <a:t>    </a:t>
            </a:r>
            <a:r>
              <a:rPr lang="en-IN" dirty="0" err="1"/>
              <a:t>branch_id</a:t>
            </a:r>
            <a:r>
              <a:rPr lang="en-IN" dirty="0"/>
              <a:t>     INT PRIMARY KEY,</a:t>
            </a:r>
          </a:p>
          <a:p>
            <a:r>
              <a:rPr lang="en-IN" dirty="0"/>
              <a:t>    </a:t>
            </a:r>
            <a:r>
              <a:rPr lang="en-IN" dirty="0" err="1"/>
              <a:t>branch_name</a:t>
            </a:r>
            <a:r>
              <a:rPr lang="en-IN" dirty="0"/>
              <a:t>   VARCHAR(100),</a:t>
            </a:r>
          </a:p>
          <a:p>
            <a:r>
              <a:rPr lang="en-IN" dirty="0"/>
              <a:t>    location      VARCHAR(100)</a:t>
            </a:r>
          </a:p>
          <a:p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CREATE TABLE Account (</a:t>
            </a:r>
          </a:p>
          <a:p>
            <a:r>
              <a:rPr lang="en-IN" dirty="0"/>
              <a:t>    </a:t>
            </a:r>
            <a:r>
              <a:rPr lang="en-IN" dirty="0" err="1"/>
              <a:t>account_id</a:t>
            </a:r>
            <a:r>
              <a:rPr lang="en-IN" dirty="0"/>
              <a:t>    INT PRIMARY KEY,</a:t>
            </a:r>
          </a:p>
          <a:p>
            <a:r>
              <a:rPr lang="en-IN" dirty="0"/>
              <a:t>    </a:t>
            </a:r>
            <a:r>
              <a:rPr lang="en-IN" dirty="0" err="1"/>
              <a:t>customer_id</a:t>
            </a:r>
            <a:r>
              <a:rPr lang="en-IN" dirty="0"/>
              <a:t>   INT,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80A0FB-5C7F-9EA1-8CEC-C38C16D4D8B3}"/>
              </a:ext>
            </a:extLst>
          </p:cNvPr>
          <p:cNvSpPr txBox="1"/>
          <p:nvPr/>
        </p:nvSpPr>
        <p:spPr>
          <a:xfrm>
            <a:off x="338667" y="20774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A52CF8FB-D4D0-262B-69E8-12928057D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651" y="2196973"/>
            <a:ext cx="20778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Create tables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8E9B2-A9E8-5E19-6061-6B6139A27203}"/>
              </a:ext>
            </a:extLst>
          </p:cNvPr>
          <p:cNvSpPr txBox="1"/>
          <p:nvPr/>
        </p:nvSpPr>
        <p:spPr>
          <a:xfrm>
            <a:off x="3332812" y="85248"/>
            <a:ext cx="41713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BANKING MANAGEMENT SYSTEM</a:t>
            </a:r>
            <a:endParaRPr lang="en-IN" sz="2800" b="1" u="sng" dirty="0"/>
          </a:p>
        </p:txBody>
      </p:sp>
    </p:spTree>
    <p:extLst>
      <p:ext uri="{BB962C8B-B14F-4D97-AF65-F5344CB8AC3E}">
        <p14:creationId xmlns:p14="http://schemas.microsoft.com/office/powerpoint/2010/main" val="1027264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CD4A2B-7AF3-24AB-8100-97926A4DDFC4}"/>
              </a:ext>
            </a:extLst>
          </p:cNvPr>
          <p:cNvSpPr txBox="1"/>
          <p:nvPr/>
        </p:nvSpPr>
        <p:spPr>
          <a:xfrm>
            <a:off x="965200" y="668867"/>
            <a:ext cx="7207871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branch_id</a:t>
            </a:r>
            <a:r>
              <a:rPr lang="en-IN" dirty="0"/>
              <a:t>     INT,</a:t>
            </a:r>
          </a:p>
          <a:p>
            <a:r>
              <a:rPr lang="en-IN" dirty="0"/>
              <a:t>    </a:t>
            </a:r>
            <a:r>
              <a:rPr lang="en-IN" dirty="0" err="1"/>
              <a:t>account_type</a:t>
            </a:r>
            <a:r>
              <a:rPr lang="en-IN" dirty="0"/>
              <a:t>  VARCHAR(20),</a:t>
            </a:r>
          </a:p>
          <a:p>
            <a:r>
              <a:rPr lang="en-IN" dirty="0"/>
              <a:t>    balance       DECIMAL(15,2),</a:t>
            </a:r>
          </a:p>
          <a:p>
            <a:r>
              <a:rPr lang="en-IN" dirty="0"/>
              <a:t>    FOREIGN KEY (</a:t>
            </a:r>
            <a:r>
              <a:rPr lang="en-IN" dirty="0" err="1"/>
              <a:t>customer_id</a:t>
            </a:r>
            <a:r>
              <a:rPr lang="en-IN" dirty="0"/>
              <a:t>) REFERENCES Customer(</a:t>
            </a:r>
            <a:r>
              <a:rPr lang="en-IN" dirty="0" err="1"/>
              <a:t>customer_id</a:t>
            </a:r>
            <a:r>
              <a:rPr lang="en-IN" dirty="0"/>
              <a:t>),</a:t>
            </a:r>
          </a:p>
          <a:p>
            <a:r>
              <a:rPr lang="en-IN" dirty="0"/>
              <a:t>    FOREIGN KEY (</a:t>
            </a:r>
            <a:r>
              <a:rPr lang="en-IN" dirty="0" err="1"/>
              <a:t>branch_id</a:t>
            </a:r>
            <a:r>
              <a:rPr lang="en-IN" dirty="0"/>
              <a:t>)   REFERENCES Branch(</a:t>
            </a:r>
            <a:r>
              <a:rPr lang="en-IN" dirty="0" err="1"/>
              <a:t>branch_id</a:t>
            </a:r>
            <a:r>
              <a:rPr lang="en-IN" dirty="0"/>
              <a:t>)</a:t>
            </a:r>
          </a:p>
          <a:p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CREATE TABLE Transaction (</a:t>
            </a:r>
          </a:p>
          <a:p>
            <a:r>
              <a:rPr lang="en-IN" dirty="0"/>
              <a:t>    </a:t>
            </a:r>
            <a:r>
              <a:rPr lang="en-IN" dirty="0" err="1"/>
              <a:t>transaction_id</a:t>
            </a:r>
            <a:r>
              <a:rPr lang="en-IN" dirty="0"/>
              <a:t>   INT PRIMARY KEY,</a:t>
            </a:r>
          </a:p>
          <a:p>
            <a:r>
              <a:rPr lang="en-IN" dirty="0"/>
              <a:t>    </a:t>
            </a:r>
            <a:r>
              <a:rPr lang="en-IN" dirty="0" err="1"/>
              <a:t>account_id</a:t>
            </a:r>
            <a:r>
              <a:rPr lang="en-IN" dirty="0"/>
              <a:t>       INT,</a:t>
            </a:r>
          </a:p>
          <a:p>
            <a:r>
              <a:rPr lang="en-IN" dirty="0"/>
              <a:t>    </a:t>
            </a:r>
            <a:r>
              <a:rPr lang="en-IN" dirty="0" err="1"/>
              <a:t>transaction_type</a:t>
            </a:r>
            <a:r>
              <a:rPr lang="en-IN" dirty="0"/>
              <a:t> VARCHAR(20),   -- e.g. '</a:t>
            </a:r>
            <a:r>
              <a:rPr lang="en-IN" dirty="0" err="1"/>
              <a:t>deposit','withdrawal','transfer</a:t>
            </a:r>
            <a:r>
              <a:rPr lang="en-IN" dirty="0"/>
              <a:t>'</a:t>
            </a:r>
          </a:p>
          <a:p>
            <a:r>
              <a:rPr lang="en-IN" dirty="0"/>
              <a:t>    amount           DECIMAL(15,2),</a:t>
            </a:r>
          </a:p>
          <a:p>
            <a:r>
              <a:rPr lang="en-IN" dirty="0"/>
              <a:t>    </a:t>
            </a:r>
            <a:r>
              <a:rPr lang="en-IN" dirty="0" err="1"/>
              <a:t>transaction_date</a:t>
            </a:r>
            <a:r>
              <a:rPr lang="en-IN" dirty="0"/>
              <a:t> DATE,</a:t>
            </a:r>
          </a:p>
          <a:p>
            <a:r>
              <a:rPr lang="en-IN" dirty="0"/>
              <a:t>    FOREIGN KEY (</a:t>
            </a:r>
            <a:r>
              <a:rPr lang="en-IN" dirty="0" err="1"/>
              <a:t>account_id</a:t>
            </a:r>
            <a:r>
              <a:rPr lang="en-IN" dirty="0"/>
              <a:t>) REFERENCES Account(</a:t>
            </a:r>
            <a:r>
              <a:rPr lang="en-IN" dirty="0" err="1"/>
              <a:t>account_id</a:t>
            </a:r>
            <a:r>
              <a:rPr lang="en-IN" dirty="0"/>
              <a:t>)</a:t>
            </a:r>
          </a:p>
          <a:p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CREATE TABLE Loan (</a:t>
            </a:r>
          </a:p>
          <a:p>
            <a:r>
              <a:rPr lang="en-IN" dirty="0"/>
              <a:t>    </a:t>
            </a:r>
            <a:r>
              <a:rPr lang="en-IN" dirty="0" err="1"/>
              <a:t>loan_id</a:t>
            </a:r>
            <a:r>
              <a:rPr lang="en-IN" dirty="0"/>
              <a:t>      INT PRIMARY KEY,</a:t>
            </a:r>
          </a:p>
          <a:p>
            <a:r>
              <a:rPr lang="en-IN" dirty="0"/>
              <a:t>    </a:t>
            </a:r>
            <a:r>
              <a:rPr lang="en-IN" dirty="0" err="1"/>
              <a:t>customer_id</a:t>
            </a:r>
            <a:r>
              <a:rPr lang="en-IN" dirty="0"/>
              <a:t>  INT,</a:t>
            </a:r>
          </a:p>
          <a:p>
            <a:r>
              <a:rPr lang="en-IN" dirty="0"/>
              <a:t>    amount       DECIMAL(15,2),</a:t>
            </a:r>
          </a:p>
          <a:p>
            <a:r>
              <a:rPr lang="en-IN" dirty="0"/>
              <a:t>    </a:t>
            </a:r>
            <a:r>
              <a:rPr lang="en-IN" dirty="0" err="1"/>
              <a:t>loan_type</a:t>
            </a:r>
            <a:r>
              <a:rPr lang="en-IN" dirty="0"/>
              <a:t>    VARCHAR(20),</a:t>
            </a:r>
          </a:p>
          <a:p>
            <a:r>
              <a:rPr lang="en-IN" dirty="0"/>
              <a:t>    status       VARCHAR(20),       -- e.g. '</a:t>
            </a:r>
            <a:r>
              <a:rPr lang="en-IN" dirty="0" err="1"/>
              <a:t>approved','pending','closed</a:t>
            </a:r>
            <a:r>
              <a:rPr lang="en-IN" dirty="0"/>
              <a:t>'</a:t>
            </a:r>
          </a:p>
          <a:p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71252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22C7A7-9289-C013-80FE-BFC28E60A6CD}"/>
              </a:ext>
            </a:extLst>
          </p:cNvPr>
          <p:cNvSpPr txBox="1"/>
          <p:nvPr/>
        </p:nvSpPr>
        <p:spPr>
          <a:xfrm>
            <a:off x="1981200" y="381000"/>
            <a:ext cx="682629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FOREIGN KEY (</a:t>
            </a:r>
            <a:r>
              <a:rPr lang="en-IN" dirty="0" err="1"/>
              <a:t>customer_id</a:t>
            </a:r>
            <a:r>
              <a:rPr lang="en-IN" dirty="0"/>
              <a:t>) REFERENCES Customer(</a:t>
            </a:r>
            <a:r>
              <a:rPr lang="en-IN" dirty="0" err="1"/>
              <a:t>customer_id</a:t>
            </a:r>
            <a:r>
              <a:rPr lang="en-IN" dirty="0"/>
              <a:t>)</a:t>
            </a:r>
          </a:p>
          <a:p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CREATE TABLE Employee (</a:t>
            </a:r>
          </a:p>
          <a:p>
            <a:r>
              <a:rPr lang="en-IN" dirty="0"/>
              <a:t>    </a:t>
            </a:r>
            <a:r>
              <a:rPr lang="en-IN" dirty="0" err="1"/>
              <a:t>employee_id</a:t>
            </a:r>
            <a:r>
              <a:rPr lang="en-IN" dirty="0"/>
              <a:t>  INT PRIMARY KEY,</a:t>
            </a:r>
          </a:p>
          <a:p>
            <a:r>
              <a:rPr lang="en-IN" dirty="0"/>
              <a:t>    name         VARCHAR(100),</a:t>
            </a:r>
          </a:p>
          <a:p>
            <a:r>
              <a:rPr lang="en-IN" dirty="0"/>
              <a:t>    </a:t>
            </a:r>
            <a:r>
              <a:rPr lang="en-IN" dirty="0" err="1"/>
              <a:t>branch_id</a:t>
            </a:r>
            <a:r>
              <a:rPr lang="en-IN" dirty="0"/>
              <a:t>    INT,</a:t>
            </a:r>
          </a:p>
          <a:p>
            <a:r>
              <a:rPr lang="en-IN" dirty="0"/>
              <a:t>    role         VARCHAR(50),</a:t>
            </a:r>
          </a:p>
          <a:p>
            <a:r>
              <a:rPr lang="en-IN" dirty="0"/>
              <a:t>    FOREIGN KEY (</a:t>
            </a:r>
            <a:r>
              <a:rPr lang="en-IN" dirty="0" err="1"/>
              <a:t>branch_id</a:t>
            </a:r>
            <a:r>
              <a:rPr lang="en-IN" dirty="0"/>
              <a:t>) REFERENCES Branch(</a:t>
            </a:r>
            <a:r>
              <a:rPr lang="en-IN" dirty="0" err="1"/>
              <a:t>branch_id</a:t>
            </a:r>
            <a:r>
              <a:rPr lang="en-IN" dirty="0"/>
              <a:t>)</a:t>
            </a:r>
          </a:p>
          <a:p>
            <a:r>
              <a:rPr lang="en-IN" dirty="0"/>
              <a:t>);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352865-743E-13BA-1F3B-09C98450A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3618412"/>
            <a:ext cx="27174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Insert sample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4C6666-DC11-D3E4-746F-DC8550E586D3}"/>
              </a:ext>
            </a:extLst>
          </p:cNvPr>
          <p:cNvSpPr txBox="1"/>
          <p:nvPr/>
        </p:nvSpPr>
        <p:spPr>
          <a:xfrm>
            <a:off x="1981200" y="4301067"/>
            <a:ext cx="355796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-- Customers</a:t>
            </a:r>
          </a:p>
          <a:p>
            <a:r>
              <a:rPr lang="en-IN" dirty="0"/>
              <a:t>INSERT INTO Customer VALUES</a:t>
            </a:r>
          </a:p>
          <a:p>
            <a:r>
              <a:rPr lang="en-IN" dirty="0"/>
              <a:t>(1, 'Alice',  '9876543210', 'City A'),</a:t>
            </a:r>
          </a:p>
          <a:p>
            <a:r>
              <a:rPr lang="en-IN" dirty="0"/>
              <a:t>(2, 'Bob',    '9876543222', 'City B'),</a:t>
            </a:r>
          </a:p>
          <a:p>
            <a:r>
              <a:rPr lang="en-IN" dirty="0"/>
              <a:t>(3, 'Charlie','9876543333', 'City C');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685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1525C1-4B5E-FEF8-1161-3EA7FEDFA814}"/>
              </a:ext>
            </a:extLst>
          </p:cNvPr>
          <p:cNvSpPr txBox="1"/>
          <p:nvPr/>
        </p:nvSpPr>
        <p:spPr>
          <a:xfrm>
            <a:off x="1540933" y="440267"/>
            <a:ext cx="464415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-- Branches</a:t>
            </a:r>
          </a:p>
          <a:p>
            <a:r>
              <a:rPr lang="en-IN" dirty="0"/>
              <a:t>INSERT INTO Branch VALUES</a:t>
            </a:r>
          </a:p>
          <a:p>
            <a:r>
              <a:rPr lang="en-IN" dirty="0"/>
              <a:t>(101, 'Main Branch',   'City A'),</a:t>
            </a:r>
          </a:p>
          <a:p>
            <a:r>
              <a:rPr lang="en-IN" dirty="0"/>
              <a:t>(102, 'North Branch',  'City B');</a:t>
            </a:r>
          </a:p>
          <a:p>
            <a:endParaRPr lang="en-IN" dirty="0"/>
          </a:p>
          <a:p>
            <a:r>
              <a:rPr lang="en-IN" dirty="0"/>
              <a:t>-- Accounts</a:t>
            </a:r>
          </a:p>
          <a:p>
            <a:r>
              <a:rPr lang="en-IN" dirty="0"/>
              <a:t>INSERT INTO Account VALUES</a:t>
            </a:r>
          </a:p>
          <a:p>
            <a:r>
              <a:rPr lang="en-IN" dirty="0"/>
              <a:t>(1001, 1, 101, 'Savings', 50000.00),</a:t>
            </a:r>
          </a:p>
          <a:p>
            <a:r>
              <a:rPr lang="en-IN" dirty="0"/>
              <a:t>(1002, 1, 101, 'Current', 15000.00),</a:t>
            </a:r>
          </a:p>
          <a:p>
            <a:r>
              <a:rPr lang="en-IN" dirty="0"/>
              <a:t>(1003, 2, 102, 'Savings', 22000.00),</a:t>
            </a:r>
          </a:p>
          <a:p>
            <a:r>
              <a:rPr lang="en-IN" dirty="0"/>
              <a:t>(1004, 3, 102, 'Savings', 12000.00);</a:t>
            </a:r>
          </a:p>
          <a:p>
            <a:endParaRPr lang="en-IN" dirty="0"/>
          </a:p>
          <a:p>
            <a:r>
              <a:rPr lang="en-IN" dirty="0"/>
              <a:t>-- Transactions</a:t>
            </a:r>
          </a:p>
          <a:p>
            <a:r>
              <a:rPr lang="en-IN" dirty="0"/>
              <a:t>INSERT INTO Transaction VALUES</a:t>
            </a:r>
          </a:p>
          <a:p>
            <a:r>
              <a:rPr lang="en-IN" dirty="0"/>
              <a:t>(1, 1001, 'deposit',    5000.00, '2024-01-10'),</a:t>
            </a:r>
          </a:p>
          <a:p>
            <a:r>
              <a:rPr lang="en-IN" dirty="0"/>
              <a:t>(2, 1001, 'withdrawal', 2000.00, '2024-01-12'),</a:t>
            </a:r>
          </a:p>
          <a:p>
            <a:r>
              <a:rPr lang="en-IN" dirty="0"/>
              <a:t>(3, 1002, 'deposit',    3000.00, '2024-02-01'),</a:t>
            </a:r>
          </a:p>
          <a:p>
            <a:r>
              <a:rPr lang="en-IN" dirty="0"/>
              <a:t>(4, 1003, 'deposit',    7000.00, '2024-02-05');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527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BA1B3-E9A7-F82B-D54E-8C82464AC978}"/>
              </a:ext>
            </a:extLst>
          </p:cNvPr>
          <p:cNvSpPr txBox="1"/>
          <p:nvPr/>
        </p:nvSpPr>
        <p:spPr>
          <a:xfrm>
            <a:off x="1278467" y="431800"/>
            <a:ext cx="434952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-- Loans</a:t>
            </a:r>
          </a:p>
          <a:p>
            <a:r>
              <a:rPr lang="en-IN" dirty="0"/>
              <a:t>INSERT INTO Loan VALUES</a:t>
            </a:r>
          </a:p>
          <a:p>
            <a:r>
              <a:rPr lang="en-IN" dirty="0"/>
              <a:t>(501, 1, 200000.00, 'Home',  'approved'),</a:t>
            </a:r>
          </a:p>
          <a:p>
            <a:r>
              <a:rPr lang="en-IN" dirty="0"/>
              <a:t>(502, 2,  50000.00, 'Car',   'pending'),</a:t>
            </a:r>
          </a:p>
          <a:p>
            <a:r>
              <a:rPr lang="en-IN" dirty="0"/>
              <a:t>(503, 3, 100000.00, 'Personal', 'approved');</a:t>
            </a:r>
          </a:p>
          <a:p>
            <a:endParaRPr lang="en-IN" dirty="0"/>
          </a:p>
          <a:p>
            <a:r>
              <a:rPr lang="en-IN" dirty="0"/>
              <a:t>-- Employees</a:t>
            </a:r>
          </a:p>
          <a:p>
            <a:r>
              <a:rPr lang="en-IN" dirty="0"/>
              <a:t>INSERT INTO Employee VALUES</a:t>
            </a:r>
          </a:p>
          <a:p>
            <a:r>
              <a:rPr lang="en-IN" dirty="0"/>
              <a:t>(9001, 'Emma', 101, 'Manager'),</a:t>
            </a:r>
          </a:p>
          <a:p>
            <a:r>
              <a:rPr lang="en-IN" dirty="0"/>
              <a:t>(9002, 'David',102, 'Clerk'),</a:t>
            </a:r>
          </a:p>
          <a:p>
            <a:r>
              <a:rPr lang="en-IN" dirty="0"/>
              <a:t>(9003, 'Ravi', 101, 'Cashier');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C47773-68B7-3FB0-5175-799250461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3753878"/>
            <a:ext cx="21355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Basic queries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89ADAB-3565-4D67-79D8-788146E13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4329612"/>
            <a:ext cx="28584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4.1. List all customers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13A42-44CB-EA12-D95F-8C230FD1EDEA}"/>
              </a:ext>
            </a:extLst>
          </p:cNvPr>
          <p:cNvSpPr txBox="1"/>
          <p:nvPr/>
        </p:nvSpPr>
        <p:spPr>
          <a:xfrm>
            <a:off x="1674864" y="5041837"/>
            <a:ext cx="2867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SELECT * FROM Customer;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624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4C83048-26A9-BE01-3B12-3C537A94D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33" y="240212"/>
            <a:ext cx="69188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4.2. Show all accounts with customer name and branch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87D28-1D11-B1E1-1211-B820EF452B82}"/>
              </a:ext>
            </a:extLst>
          </p:cNvPr>
          <p:cNvSpPr txBox="1"/>
          <p:nvPr/>
        </p:nvSpPr>
        <p:spPr>
          <a:xfrm>
            <a:off x="1212850" y="863600"/>
            <a:ext cx="62018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a.account_id</a:t>
            </a:r>
            <a:r>
              <a:rPr lang="en-IN" dirty="0"/>
              <a:t>, c.name AS </a:t>
            </a:r>
            <a:r>
              <a:rPr lang="en-IN" dirty="0" err="1"/>
              <a:t>customer_name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b.branch_name</a:t>
            </a:r>
            <a:r>
              <a:rPr lang="en-IN" dirty="0"/>
              <a:t>, </a:t>
            </a:r>
            <a:r>
              <a:rPr lang="en-IN" dirty="0" err="1"/>
              <a:t>a.account_type</a:t>
            </a:r>
            <a:r>
              <a:rPr lang="en-IN" dirty="0"/>
              <a:t>, </a:t>
            </a:r>
            <a:r>
              <a:rPr lang="en-IN" dirty="0" err="1"/>
              <a:t>a.balance</a:t>
            </a:r>
            <a:endParaRPr lang="en-IN" dirty="0"/>
          </a:p>
          <a:p>
            <a:r>
              <a:rPr lang="en-IN" dirty="0"/>
              <a:t>FROM Account a</a:t>
            </a:r>
          </a:p>
          <a:p>
            <a:r>
              <a:rPr lang="en-IN" dirty="0"/>
              <a:t>JOIN Customer c ON </a:t>
            </a:r>
            <a:r>
              <a:rPr lang="en-IN" dirty="0" err="1"/>
              <a:t>a.customer_id</a:t>
            </a:r>
            <a:r>
              <a:rPr lang="en-IN" dirty="0"/>
              <a:t> = </a:t>
            </a:r>
            <a:r>
              <a:rPr lang="en-IN" dirty="0" err="1"/>
              <a:t>c.customer_id</a:t>
            </a:r>
            <a:endParaRPr lang="en-IN" dirty="0"/>
          </a:p>
          <a:p>
            <a:r>
              <a:rPr lang="en-IN" dirty="0"/>
              <a:t>JOIN Branch b   ON </a:t>
            </a:r>
            <a:r>
              <a:rPr lang="en-IN" dirty="0" err="1"/>
              <a:t>a.branch_id</a:t>
            </a:r>
            <a:r>
              <a:rPr lang="en-IN" dirty="0"/>
              <a:t>   = </a:t>
            </a:r>
            <a:r>
              <a:rPr lang="en-IN" dirty="0" err="1"/>
              <a:t>b.branch_id</a:t>
            </a:r>
            <a:r>
              <a:rPr lang="en-IN" dirty="0"/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DEB47-E469-7FF8-FB26-547349E9D004}"/>
              </a:ext>
            </a:extLst>
          </p:cNvPr>
          <p:cNvSpPr txBox="1"/>
          <p:nvPr/>
        </p:nvSpPr>
        <p:spPr>
          <a:xfrm>
            <a:off x="821266" y="5664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01C24D3-B43F-FD3B-E2C0-C290CF749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33" y="2653212"/>
            <a:ext cx="739978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4.3. Find all transactions for a particular account (say 1001)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50BEA-708F-9FC6-5158-D4DA61845A30}"/>
              </a:ext>
            </a:extLst>
          </p:cNvPr>
          <p:cNvSpPr txBox="1"/>
          <p:nvPr/>
        </p:nvSpPr>
        <p:spPr>
          <a:xfrm>
            <a:off x="1295400" y="3365607"/>
            <a:ext cx="30213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*</a:t>
            </a:r>
          </a:p>
          <a:p>
            <a:r>
              <a:rPr lang="en-US" dirty="0"/>
              <a:t>FROM Transaction</a:t>
            </a:r>
          </a:p>
          <a:p>
            <a:r>
              <a:rPr lang="en-US" dirty="0"/>
              <a:t>WHERE </a:t>
            </a:r>
            <a:r>
              <a:rPr lang="en-US" dirty="0" err="1"/>
              <a:t>account_id</a:t>
            </a:r>
            <a:r>
              <a:rPr lang="en-US" dirty="0"/>
              <a:t> = 1001</a:t>
            </a:r>
          </a:p>
          <a:p>
            <a:r>
              <a:rPr lang="en-US" dirty="0"/>
              <a:t>ORDER BY </a:t>
            </a:r>
            <a:r>
              <a:rPr lang="en-US" dirty="0" err="1"/>
              <a:t>transaction_date</a:t>
            </a:r>
            <a:r>
              <a:rPr lang="en-US" dirty="0"/>
              <a:t>;</a:t>
            </a:r>
          </a:p>
          <a:p>
            <a:endParaRPr lang="en-IN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E24199D-96F3-50D6-0EF7-7C9CDE1EE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33" y="4820678"/>
            <a:ext cx="75568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4.4. Get total balance of each customer (across all accounts)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D46E70-8E2E-DD5E-AF9C-88852ECBED6A}"/>
              </a:ext>
            </a:extLst>
          </p:cNvPr>
          <p:cNvSpPr txBox="1"/>
          <p:nvPr/>
        </p:nvSpPr>
        <p:spPr>
          <a:xfrm>
            <a:off x="1058327" y="5266267"/>
            <a:ext cx="51985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c.customer_id</a:t>
            </a:r>
            <a:r>
              <a:rPr lang="en-US" dirty="0"/>
              <a:t>, c.name,</a:t>
            </a:r>
          </a:p>
          <a:p>
            <a:r>
              <a:rPr lang="en-US" dirty="0"/>
              <a:t>       SUM(</a:t>
            </a:r>
            <a:r>
              <a:rPr lang="en-US" dirty="0" err="1"/>
              <a:t>a.balance</a:t>
            </a:r>
            <a:r>
              <a:rPr lang="en-US" dirty="0"/>
              <a:t>) AS </a:t>
            </a:r>
            <a:r>
              <a:rPr lang="en-US" dirty="0" err="1"/>
              <a:t>total_balance</a:t>
            </a:r>
            <a:endParaRPr lang="en-US" dirty="0"/>
          </a:p>
          <a:p>
            <a:r>
              <a:rPr lang="en-US" dirty="0"/>
              <a:t>FROM Customer c</a:t>
            </a:r>
          </a:p>
          <a:p>
            <a:r>
              <a:rPr lang="en-US" dirty="0"/>
              <a:t>JOIN Account a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a.customer_id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c.customer_id</a:t>
            </a:r>
            <a:r>
              <a:rPr lang="en-US" dirty="0"/>
              <a:t>, c.name;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199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A7EE7C0-FD26-F3BF-441A-6892E7B3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172479"/>
            <a:ext cx="475162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4.5. List all loans and their customers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D0F71-2B2E-5369-AE59-4EF3E981EECB}"/>
              </a:ext>
            </a:extLst>
          </p:cNvPr>
          <p:cNvSpPr txBox="1"/>
          <p:nvPr/>
        </p:nvSpPr>
        <p:spPr>
          <a:xfrm>
            <a:off x="764116" y="720636"/>
            <a:ext cx="62187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l.loan_id</a:t>
            </a:r>
            <a:r>
              <a:rPr lang="en-IN" dirty="0"/>
              <a:t>, c.name AS </a:t>
            </a:r>
            <a:r>
              <a:rPr lang="en-IN" dirty="0" err="1"/>
              <a:t>customer_name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l.amount</a:t>
            </a:r>
            <a:r>
              <a:rPr lang="en-IN" dirty="0"/>
              <a:t>, </a:t>
            </a:r>
            <a:r>
              <a:rPr lang="en-IN" dirty="0" err="1"/>
              <a:t>l.loan_type</a:t>
            </a:r>
            <a:r>
              <a:rPr lang="en-IN" dirty="0"/>
              <a:t>, </a:t>
            </a:r>
            <a:r>
              <a:rPr lang="en-IN" dirty="0" err="1"/>
              <a:t>l.status</a:t>
            </a:r>
            <a:endParaRPr lang="en-IN" dirty="0"/>
          </a:p>
          <a:p>
            <a:r>
              <a:rPr lang="en-IN" dirty="0"/>
              <a:t>FROM Loan l</a:t>
            </a:r>
          </a:p>
          <a:p>
            <a:r>
              <a:rPr lang="en-IN" dirty="0"/>
              <a:t>JOIN Customer c ON </a:t>
            </a:r>
            <a:r>
              <a:rPr lang="en-IN" dirty="0" err="1"/>
              <a:t>l.customer_id</a:t>
            </a:r>
            <a:r>
              <a:rPr lang="en-IN" dirty="0"/>
              <a:t> = </a:t>
            </a:r>
            <a:r>
              <a:rPr lang="en-IN" dirty="0" err="1"/>
              <a:t>c.customer_id</a:t>
            </a:r>
            <a:r>
              <a:rPr lang="en-IN" dirty="0"/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12E59-DCD3-F97D-1446-DA249FECE0B5}"/>
              </a:ext>
            </a:extLst>
          </p:cNvPr>
          <p:cNvSpPr txBox="1"/>
          <p:nvPr/>
        </p:nvSpPr>
        <p:spPr>
          <a:xfrm>
            <a:off x="694267" y="454659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3D08A3A-4042-2BAE-854E-FA6F702D0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2069011"/>
            <a:ext cx="56957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4.6. Show employees working in each branch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32AB8-F0B8-EFC3-F41C-435857E1CFE5}"/>
              </a:ext>
            </a:extLst>
          </p:cNvPr>
          <p:cNvSpPr txBox="1"/>
          <p:nvPr/>
        </p:nvSpPr>
        <p:spPr>
          <a:xfrm>
            <a:off x="878998" y="2807668"/>
            <a:ext cx="62187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b.branch_name</a:t>
            </a:r>
            <a:r>
              <a:rPr lang="en-IN" dirty="0"/>
              <a:t>, e.name AS </a:t>
            </a:r>
            <a:r>
              <a:rPr lang="en-IN" dirty="0" err="1"/>
              <a:t>employee_name</a:t>
            </a:r>
            <a:r>
              <a:rPr lang="en-IN" dirty="0"/>
              <a:t>, </a:t>
            </a:r>
            <a:r>
              <a:rPr lang="en-IN" dirty="0" err="1"/>
              <a:t>e.role</a:t>
            </a:r>
            <a:endParaRPr lang="en-IN" dirty="0"/>
          </a:p>
          <a:p>
            <a:r>
              <a:rPr lang="en-IN" dirty="0"/>
              <a:t>FROM Employee e</a:t>
            </a:r>
          </a:p>
          <a:p>
            <a:r>
              <a:rPr lang="en-IN" dirty="0"/>
              <a:t>JOIN Branch b ON </a:t>
            </a:r>
            <a:r>
              <a:rPr lang="en-IN" dirty="0" err="1"/>
              <a:t>e.branch_id</a:t>
            </a:r>
            <a:r>
              <a:rPr lang="en-IN" dirty="0"/>
              <a:t> = </a:t>
            </a:r>
            <a:r>
              <a:rPr lang="en-IN" dirty="0" err="1"/>
              <a:t>b.branch_id</a:t>
            </a:r>
            <a:endParaRPr lang="en-IN" dirty="0"/>
          </a:p>
          <a:p>
            <a:r>
              <a:rPr lang="en-IN" dirty="0"/>
              <a:t>ORDER BY </a:t>
            </a:r>
            <a:r>
              <a:rPr lang="en-IN" dirty="0" err="1"/>
              <a:t>b.branch_name</a:t>
            </a:r>
            <a:r>
              <a:rPr lang="en-IN" dirty="0"/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A9FD41-671B-347E-63DD-56868F0F26EC}"/>
              </a:ext>
            </a:extLst>
          </p:cNvPr>
          <p:cNvSpPr txBox="1"/>
          <p:nvPr/>
        </p:nvSpPr>
        <p:spPr>
          <a:xfrm>
            <a:off x="560336" y="878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4C13E191-FF3C-CD73-411D-45BC2AA34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69" y="4177212"/>
            <a:ext cx="73885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Some slightly advanced queries (good for project report)</a:t>
            </a: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6945994-CEF0-DDA5-0FDD-8646885C0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67" y="4731265"/>
            <a:ext cx="60067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5.1. Customers who have both an account and a loan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34326-E1AE-20DB-8C21-78F506F251CB}"/>
              </a:ext>
            </a:extLst>
          </p:cNvPr>
          <p:cNvSpPr txBox="1"/>
          <p:nvPr/>
        </p:nvSpPr>
        <p:spPr>
          <a:xfrm>
            <a:off x="1667933" y="5285264"/>
            <a:ext cx="51985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SELECT DISTINCT </a:t>
            </a:r>
            <a:r>
              <a:rPr lang="en-IN" dirty="0" err="1"/>
              <a:t>c.customer_id</a:t>
            </a:r>
            <a:r>
              <a:rPr lang="en-IN" dirty="0"/>
              <a:t>, c.name</a:t>
            </a:r>
          </a:p>
          <a:p>
            <a:r>
              <a:rPr lang="en-IN" dirty="0"/>
              <a:t>FROM Customer c</a:t>
            </a:r>
          </a:p>
          <a:p>
            <a:r>
              <a:rPr lang="en-IN" dirty="0"/>
              <a:t>JOIN Account a 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a.customer_id</a:t>
            </a:r>
            <a:endParaRPr lang="en-IN" dirty="0"/>
          </a:p>
          <a:p>
            <a:r>
              <a:rPr lang="en-IN" dirty="0"/>
              <a:t>JOIN Loan l    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l.customer_id</a:t>
            </a:r>
            <a:r>
              <a:rPr lang="en-IN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235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2586ECA-47F1-EFAD-B51A-5AE745814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67" y="189412"/>
            <a:ext cx="94804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5.2. Branch-wise total deposits (sum of all account balances in each branch)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7F479-D7CE-519C-495D-311AF178C362}"/>
              </a:ext>
            </a:extLst>
          </p:cNvPr>
          <p:cNvSpPr txBox="1"/>
          <p:nvPr/>
        </p:nvSpPr>
        <p:spPr>
          <a:xfrm>
            <a:off x="1007534" y="863600"/>
            <a:ext cx="47020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b.branch_id</a:t>
            </a:r>
            <a:r>
              <a:rPr lang="en-IN" dirty="0"/>
              <a:t>, </a:t>
            </a:r>
            <a:r>
              <a:rPr lang="en-IN" dirty="0" err="1"/>
              <a:t>b.branch_name</a:t>
            </a:r>
            <a:r>
              <a:rPr lang="en-IN" dirty="0"/>
              <a:t>,</a:t>
            </a:r>
          </a:p>
          <a:p>
            <a:r>
              <a:rPr lang="en-IN" dirty="0"/>
              <a:t>       SUM(</a:t>
            </a:r>
            <a:r>
              <a:rPr lang="en-IN" dirty="0" err="1"/>
              <a:t>a.balance</a:t>
            </a:r>
            <a:r>
              <a:rPr lang="en-IN" dirty="0"/>
              <a:t>) AS </a:t>
            </a:r>
            <a:r>
              <a:rPr lang="en-IN" dirty="0" err="1"/>
              <a:t>total_branch_balance</a:t>
            </a:r>
            <a:endParaRPr lang="en-IN" dirty="0"/>
          </a:p>
          <a:p>
            <a:r>
              <a:rPr lang="en-IN" dirty="0"/>
              <a:t>FROM Branch b</a:t>
            </a:r>
          </a:p>
          <a:p>
            <a:r>
              <a:rPr lang="en-IN" dirty="0"/>
              <a:t>JOIN Account a ON </a:t>
            </a:r>
            <a:r>
              <a:rPr lang="en-IN" dirty="0" err="1"/>
              <a:t>b.branch_id</a:t>
            </a:r>
            <a:r>
              <a:rPr lang="en-IN" dirty="0"/>
              <a:t> = </a:t>
            </a:r>
            <a:r>
              <a:rPr lang="en-IN" dirty="0" err="1"/>
              <a:t>a.branch_id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b.branch_id</a:t>
            </a:r>
            <a:r>
              <a:rPr lang="en-IN" dirty="0"/>
              <a:t>, </a:t>
            </a:r>
            <a:r>
              <a:rPr lang="en-IN" dirty="0" err="1"/>
              <a:t>b.branch_name</a:t>
            </a:r>
            <a:r>
              <a:rPr lang="en-IN" dirty="0"/>
              <a:t>;</a:t>
            </a:r>
          </a:p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1D05F8A-FC1B-B4B2-C094-191464677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70" y="2551612"/>
            <a:ext cx="4923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5.3. Customers with loans still pending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89474-2F7E-83C8-601D-6419C58CFCFC}"/>
              </a:ext>
            </a:extLst>
          </p:cNvPr>
          <p:cNvSpPr txBox="1"/>
          <p:nvPr/>
        </p:nvSpPr>
        <p:spPr>
          <a:xfrm>
            <a:off x="1007534" y="3235236"/>
            <a:ext cx="62399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c.customer_id</a:t>
            </a:r>
            <a:r>
              <a:rPr lang="en-IN" dirty="0"/>
              <a:t>, c.name, </a:t>
            </a:r>
            <a:r>
              <a:rPr lang="en-IN" dirty="0" err="1"/>
              <a:t>l.loan_id</a:t>
            </a:r>
            <a:r>
              <a:rPr lang="en-IN" dirty="0"/>
              <a:t>, </a:t>
            </a:r>
            <a:r>
              <a:rPr lang="en-IN" dirty="0" err="1"/>
              <a:t>l.amount</a:t>
            </a:r>
            <a:endParaRPr lang="en-IN" dirty="0"/>
          </a:p>
          <a:p>
            <a:r>
              <a:rPr lang="en-IN" dirty="0"/>
              <a:t>FROM Customer c</a:t>
            </a:r>
          </a:p>
          <a:p>
            <a:r>
              <a:rPr lang="en-IN" dirty="0"/>
              <a:t>JOIN Loan l 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l.customer_id</a:t>
            </a:r>
            <a:endParaRPr lang="en-IN" dirty="0"/>
          </a:p>
          <a:p>
            <a:r>
              <a:rPr lang="en-IN" dirty="0"/>
              <a:t>WHERE </a:t>
            </a:r>
            <a:r>
              <a:rPr lang="en-IN" dirty="0" err="1"/>
              <a:t>l.status</a:t>
            </a:r>
            <a:r>
              <a:rPr lang="en-IN" dirty="0"/>
              <a:t> = 'pending';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E8C5660-5DF7-F293-08EE-CFFB5A31D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33" y="4769879"/>
            <a:ext cx="64206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5.4. Transactions above a given amount (e.g., 5000)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75768-A9C2-1294-44AB-F61E4B8842E1}"/>
              </a:ext>
            </a:extLst>
          </p:cNvPr>
          <p:cNvSpPr txBox="1"/>
          <p:nvPr/>
        </p:nvSpPr>
        <p:spPr>
          <a:xfrm>
            <a:off x="1236133" y="5266266"/>
            <a:ext cx="535633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t.*, c.name AS </a:t>
            </a:r>
            <a:r>
              <a:rPr lang="en-US" dirty="0" err="1"/>
              <a:t>customer_name</a:t>
            </a:r>
            <a:endParaRPr lang="en-US" dirty="0"/>
          </a:p>
          <a:p>
            <a:r>
              <a:rPr lang="en-US" dirty="0"/>
              <a:t>FROM Transaction t</a:t>
            </a:r>
          </a:p>
          <a:p>
            <a:r>
              <a:rPr lang="en-US" dirty="0"/>
              <a:t>JOIN Account a ON </a:t>
            </a:r>
            <a:r>
              <a:rPr lang="en-US" dirty="0" err="1"/>
              <a:t>t.account_id</a:t>
            </a:r>
            <a:r>
              <a:rPr lang="en-US" dirty="0"/>
              <a:t> = </a:t>
            </a:r>
            <a:r>
              <a:rPr lang="en-US" dirty="0" err="1"/>
              <a:t>a.account_id</a:t>
            </a:r>
            <a:endParaRPr lang="en-US" dirty="0"/>
          </a:p>
          <a:p>
            <a:r>
              <a:rPr lang="en-US" dirty="0"/>
              <a:t>JOIN Customer c ON </a:t>
            </a:r>
            <a:r>
              <a:rPr lang="en-US" dirty="0" err="1"/>
              <a:t>a.customer_id</a:t>
            </a:r>
            <a:r>
              <a:rPr lang="en-US" dirty="0"/>
              <a:t> = </a:t>
            </a:r>
            <a:r>
              <a:rPr lang="en-US" dirty="0" err="1"/>
              <a:t>c.customer_id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t.amount</a:t>
            </a:r>
            <a:r>
              <a:rPr lang="en-US" dirty="0"/>
              <a:t> &gt; 5000.00;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621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1114</Words>
  <Application>Microsoft Office PowerPoint</Application>
  <PresentationFormat>Widescreen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Rakshitha Poojary</dc:creator>
  <cp:lastModifiedBy>Rakshitha Poojary</cp:lastModifiedBy>
  <cp:revision>1</cp:revision>
  <dcterms:created xsi:type="dcterms:W3CDTF">2026-06-12T16:29:02Z</dcterms:created>
  <dcterms:modified xsi:type="dcterms:W3CDTF">2026-06-12T17:46:39Z</dcterms:modified>
</cp:coreProperties>
</file>